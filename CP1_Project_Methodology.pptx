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1326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-2011680"/>
            <a:ext cx="6400800" cy="6400800"/>
          </a:xfrm>
          <a:prstGeom prst="ellipse">
            <a:avLst/>
          </a:prstGeom>
          <a:solidFill>
            <a:srgbClr val="0F2242"/>
          </a:solidFill>
          <a:ln/>
        </p:spPr>
      </p:sp>
      <p:sp>
        <p:nvSpPr>
          <p:cNvPr id="4" name="Shape 2"/>
          <p:cNvSpPr/>
          <p:nvPr/>
        </p:nvSpPr>
        <p:spPr>
          <a:xfrm>
            <a:off x="-2286000" y="4297680"/>
            <a:ext cx="5029200" cy="5029200"/>
          </a:xfrm>
          <a:prstGeom prst="ellipse">
            <a:avLst/>
          </a:prstGeom>
          <a:solidFill>
            <a:srgbClr val="0F2242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417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 1  ·  DASHBOARDING TRACK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187452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FIFA World Cup Analytics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822960" y="288036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Examining Home-Continent Advantage Across 22 World Cup Editions (1930–2022)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22960" y="3611880"/>
            <a:ext cx="292608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8862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Bharadwaja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&amp; AI/DS Program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8F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Imarticus Learning — Gachibowli, Hyderabad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9921240" y="4526280"/>
            <a:ext cx="1371600" cy="1371600"/>
          </a:xfrm>
          <a:prstGeom prst="ellipse">
            <a:avLst/>
          </a:prstGeom>
          <a:solidFill>
            <a:srgbClr val="13294F"/>
          </a:solidFill>
          <a:ln w="19050">
            <a:solidFill>
              <a:srgbClr val="D4AF3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921240" y="452628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9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⚽</a:t>
            </a:r>
            <a:endParaRPr lang="en-US" sz="3900" dirty="0"/>
          </a:p>
        </p:txBody>
      </p:sp>
      <p:sp>
        <p:nvSpPr>
          <p:cNvPr id="12" name="Text 10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F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 1   |   FIFA WORLD CUP ANALYTICS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9354312" y="651052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·  TITLE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 &amp; Objective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6537960" cy="4480560"/>
          </a:xfrm>
          <a:prstGeom prst="roundRect">
            <a:avLst>
              <a:gd name="adj" fmla="val 2041"/>
            </a:avLst>
          </a:prstGeom>
          <a:solidFill>
            <a:srgbClr val="13294F"/>
          </a:solidFill>
          <a:ln w="12700">
            <a:solidFill>
              <a:srgbClr val="1E3A6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82880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8680" y="2194560"/>
            <a:ext cx="5943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analyze 90+ years of FIFA World Cup match data (1930–2022) and evaluate whether host nations and their home continent enjoy a measurable performance advantage — in wins, goals, and tournament progression — compared to visiting teams.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352044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ANALYTICAL QUESTIONS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3858768"/>
            <a:ext cx="598932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▸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host countries progress further or win more matches than visiting teams?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▸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is match and goal volume distributed across continents and venues?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▸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teams and tournament editions show the strongest performance trends over time?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▸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has the competitive balance (wins vs. draws vs. losses) evolved across editions?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0" y="1600200"/>
            <a:ext cx="4343400" cy="4480560"/>
          </a:xfrm>
          <a:prstGeom prst="roundRect">
            <a:avLst>
              <a:gd name="adj" fmla="val 2105"/>
            </a:avLst>
          </a:prstGeom>
          <a:solidFill>
            <a:srgbClr val="0F2242"/>
          </a:solidFill>
          <a:ln w="12700">
            <a:solidFill>
              <a:srgbClr val="2FD3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589520" y="1828800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FD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SCOPE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589520" y="2240280"/>
            <a:ext cx="1783080" cy="914400"/>
          </a:xfrm>
          <a:prstGeom prst="roundRect">
            <a:avLst>
              <a:gd name="adj" fmla="val 9000"/>
            </a:avLst>
          </a:prstGeom>
          <a:solidFill>
            <a:srgbClr val="13294F"/>
          </a:solidFill>
          <a:ln w="12700">
            <a:solidFill>
              <a:srgbClr val="2FD3C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62672" y="2331720"/>
            <a:ext cx="16367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FD3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662672" y="2807208"/>
            <a:ext cx="1636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spc="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TOURNAMENTS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9555480" y="2240280"/>
            <a:ext cx="1783080" cy="914400"/>
          </a:xfrm>
          <a:prstGeom prst="roundRect">
            <a:avLst>
              <a:gd name="adj" fmla="val 9000"/>
            </a:avLst>
          </a:prstGeom>
          <a:solidFill>
            <a:srgbClr val="13294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28632" y="2331720"/>
            <a:ext cx="16367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964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9628632" y="2807208"/>
            <a:ext cx="1636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spc="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589520" y="3291840"/>
            <a:ext cx="1783080" cy="914400"/>
          </a:xfrm>
          <a:prstGeom prst="roundRect">
            <a:avLst>
              <a:gd name="adj" fmla="val 9000"/>
            </a:avLst>
          </a:prstGeom>
          <a:solidFill>
            <a:srgbClr val="13294F"/>
          </a:solidFill>
          <a:ln w="12700">
            <a:solidFill>
              <a:srgbClr val="2FD3C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62672" y="3383280"/>
            <a:ext cx="16367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FD3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85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7662672" y="3858768"/>
            <a:ext cx="1636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spc="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9555480" y="3291840"/>
            <a:ext cx="1783080" cy="914400"/>
          </a:xfrm>
          <a:prstGeom prst="roundRect">
            <a:avLst>
              <a:gd name="adj" fmla="val 9000"/>
            </a:avLst>
          </a:prstGeom>
          <a:solidFill>
            <a:srgbClr val="13294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28632" y="3383280"/>
            <a:ext cx="16367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9628632" y="3858768"/>
            <a:ext cx="1636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spc="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COUNTRIES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589520" y="4434840"/>
            <a:ext cx="3794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Track: Excel/Power Query + Power BI Dashboarding (Specialization Track 1)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7589520" y="5166360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span: 1930 – 2022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589520" y="5486400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Deliverable: Multi-page interactive Power BI dashboard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F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 1   |   FIFA WORLD CUP ANALYTICS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9354312" y="651052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OBJECTIVE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FOUNDATION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&amp; Data Source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uses a match-level FIFA World Cup historical results dataset covering every tournament edition from 1930 to 2022, capturing team, venue, and outcome details for each fixture.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2148840" cy="960120"/>
          </a:xfrm>
          <a:prstGeom prst="roundRect">
            <a:avLst>
              <a:gd name="adj" fmla="val 8571"/>
            </a:avLst>
          </a:prstGeom>
          <a:solidFill>
            <a:srgbClr val="13294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2377440"/>
            <a:ext cx="2002536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964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21792" y="2881274"/>
            <a:ext cx="2002536" cy="326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spc="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MATCHES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834640" y="2286000"/>
            <a:ext cx="2148840" cy="960120"/>
          </a:xfrm>
          <a:prstGeom prst="roundRect">
            <a:avLst>
              <a:gd name="adj" fmla="val 8571"/>
            </a:avLst>
          </a:prstGeom>
          <a:solidFill>
            <a:srgbClr val="13294F"/>
          </a:solidFill>
          <a:ln w="12700">
            <a:solidFill>
              <a:srgbClr val="2FD3C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07792" y="2377440"/>
            <a:ext cx="2002536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FD3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193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907792" y="2881274"/>
            <a:ext cx="2002536" cy="326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spc="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VENUES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148840" cy="960120"/>
          </a:xfrm>
          <a:prstGeom prst="roundRect">
            <a:avLst>
              <a:gd name="adj" fmla="val 8571"/>
            </a:avLst>
          </a:prstGeom>
          <a:solidFill>
            <a:srgbClr val="13294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93792" y="2377440"/>
            <a:ext cx="2002536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165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193792" y="2881274"/>
            <a:ext cx="2002536" cy="326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spc="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CITIES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406640" y="2286000"/>
            <a:ext cx="2148840" cy="960120"/>
          </a:xfrm>
          <a:prstGeom prst="roundRect">
            <a:avLst>
              <a:gd name="adj" fmla="val 8571"/>
            </a:avLst>
          </a:prstGeom>
          <a:solidFill>
            <a:srgbClr val="13294F"/>
          </a:solidFill>
          <a:ln w="12700">
            <a:solidFill>
              <a:srgbClr val="2FD3C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79792" y="2377440"/>
            <a:ext cx="2002536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FD3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7479792" y="2881274"/>
            <a:ext cx="2002536" cy="326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spc="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COUNTRIES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9692640" y="2286000"/>
            <a:ext cx="2148840" cy="960120"/>
          </a:xfrm>
          <a:prstGeom prst="roundRect">
            <a:avLst>
              <a:gd name="adj" fmla="val 8571"/>
            </a:avLst>
          </a:prstGeom>
          <a:solidFill>
            <a:srgbClr val="13294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765792" y="2377440"/>
            <a:ext cx="2002536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85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9765792" y="2881274"/>
            <a:ext cx="2002536" cy="326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spc="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PARTICIPATING TEAMS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48640" y="3520440"/>
            <a:ext cx="5349240" cy="2606040"/>
          </a:xfrm>
          <a:prstGeom prst="roundRect">
            <a:avLst>
              <a:gd name="adj" fmla="val 3509"/>
            </a:avLst>
          </a:prstGeom>
          <a:solidFill>
            <a:srgbClr val="13294F"/>
          </a:solidFill>
          <a:ln w="12700">
            <a:solidFill>
              <a:srgbClr val="1E3A6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3703320"/>
            <a:ext cx="4800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FIELDS CAPTURED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22960" y="4041648"/>
            <a:ext cx="48463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Tournament name &amp; edition year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stage (Group, Round of 16 … Final)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name, match type &amp; result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Venue, city &amp; host country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 scored (home / away)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080760" y="3520440"/>
            <a:ext cx="5577840" cy="2606040"/>
          </a:xfrm>
          <a:prstGeom prst="roundRect">
            <a:avLst>
              <a:gd name="adj" fmla="val 3509"/>
            </a:avLst>
          </a:prstGeom>
          <a:solidFill>
            <a:srgbClr val="0F2242"/>
          </a:solidFill>
          <a:ln w="12700">
            <a:solidFill>
              <a:srgbClr val="2FD3C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55080" y="37033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FD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PREPARATION NOTE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355080" y="4041648"/>
            <a:ext cx="50292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access to Excel, all cleaning and shaping was performed directly inside Power BI using Power Query — handling missing venue values, standardizing team/country names, and structuring the data into a star-schema-ready model for reliable DAX aggregation.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F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 1   |   FIFA WORLD CUP ANALYTICS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9354312" y="651052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DATASET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&amp; Methodology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66160" cy="2148840"/>
          </a:xfrm>
          <a:prstGeom prst="roundRect">
            <a:avLst>
              <a:gd name="adj" fmla="val 4255"/>
            </a:avLst>
          </a:prstGeom>
          <a:solidFill>
            <a:srgbClr val="13294F"/>
          </a:solidFill>
          <a:ln w="12700">
            <a:solidFill>
              <a:srgbClr val="1E3A6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783080"/>
            <a:ext cx="548640" cy="548640"/>
          </a:xfrm>
          <a:prstGeom prst="ellipse">
            <a:avLst/>
          </a:prstGeom>
          <a:solidFill>
            <a:srgbClr val="13294F"/>
          </a:solidFill>
          <a:ln w="19050">
            <a:solidFill>
              <a:srgbClr val="D4AF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60" dirty="0"/>
          </a:p>
        </p:txBody>
      </p:sp>
      <p:sp>
        <p:nvSpPr>
          <p:cNvPr id="7" name="Text 5"/>
          <p:cNvSpPr/>
          <p:nvPr/>
        </p:nvSpPr>
        <p:spPr>
          <a:xfrm>
            <a:off x="1371600" y="1801368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Collection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2468880"/>
            <a:ext cx="30175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Sourced the historical World Cup match dataset (1930–2022) covering all editions and fixtures.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43400" y="1600200"/>
            <a:ext cx="3566160" cy="2148840"/>
          </a:xfrm>
          <a:prstGeom prst="roundRect">
            <a:avLst>
              <a:gd name="adj" fmla="val 4255"/>
            </a:avLst>
          </a:prstGeom>
          <a:solidFill>
            <a:srgbClr val="0F2242"/>
          </a:solidFill>
          <a:ln w="12700">
            <a:solidFill>
              <a:srgbClr val="1E3A6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26280" y="1783080"/>
            <a:ext cx="548640" cy="548640"/>
          </a:xfrm>
          <a:prstGeom prst="ellipse">
            <a:avLst/>
          </a:prstGeom>
          <a:solidFill>
            <a:srgbClr val="13294F"/>
          </a:solidFill>
          <a:ln w="19050">
            <a:solidFill>
              <a:srgbClr val="D4AF3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26280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60" dirty="0"/>
          </a:p>
        </p:txBody>
      </p:sp>
      <p:sp>
        <p:nvSpPr>
          <p:cNvPr id="12" name="Text 10"/>
          <p:cNvSpPr/>
          <p:nvPr/>
        </p:nvSpPr>
        <p:spPr>
          <a:xfrm>
            <a:off x="5166360" y="1801368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Cleaning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617720" y="2468880"/>
            <a:ext cx="30175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Power Query to remove duplicates, fix inconsistent country/venue names, and handle nulls.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38160" y="1600200"/>
            <a:ext cx="3566160" cy="2148840"/>
          </a:xfrm>
          <a:prstGeom prst="roundRect">
            <a:avLst>
              <a:gd name="adj" fmla="val 4255"/>
            </a:avLst>
          </a:prstGeom>
          <a:solidFill>
            <a:srgbClr val="13294F"/>
          </a:solidFill>
          <a:ln w="12700">
            <a:solidFill>
              <a:srgbClr val="1E3A6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21040" y="1783080"/>
            <a:ext cx="548640" cy="548640"/>
          </a:xfrm>
          <a:prstGeom prst="ellipse">
            <a:avLst/>
          </a:prstGeom>
          <a:solidFill>
            <a:srgbClr val="13294F"/>
          </a:solidFill>
          <a:ln w="19050">
            <a:solidFill>
              <a:srgbClr val="D4AF3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21040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60" dirty="0"/>
          </a:p>
        </p:txBody>
      </p:sp>
      <p:sp>
        <p:nvSpPr>
          <p:cNvPr id="17" name="Text 15"/>
          <p:cNvSpPr/>
          <p:nvPr/>
        </p:nvSpPr>
        <p:spPr>
          <a:xfrm>
            <a:off x="8961120" y="1801368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Modeling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412480" y="2468880"/>
            <a:ext cx="30175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relationships across Match, Team, Tournament and Venue tables for a clean analytical model.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3977640"/>
            <a:ext cx="3566160" cy="2148840"/>
          </a:xfrm>
          <a:prstGeom prst="roundRect">
            <a:avLst>
              <a:gd name="adj" fmla="val 4255"/>
            </a:avLst>
          </a:prstGeom>
          <a:solidFill>
            <a:srgbClr val="13294F"/>
          </a:solidFill>
          <a:ln w="12700">
            <a:solidFill>
              <a:srgbClr val="1E3A6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" y="4160520"/>
            <a:ext cx="548640" cy="548640"/>
          </a:xfrm>
          <a:prstGeom prst="ellipse">
            <a:avLst/>
          </a:prstGeom>
          <a:solidFill>
            <a:srgbClr val="13294F"/>
          </a:solidFill>
          <a:ln w="19050">
            <a:solidFill>
              <a:srgbClr val="D4AF3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4160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60" dirty="0"/>
          </a:p>
        </p:txBody>
      </p:sp>
      <p:sp>
        <p:nvSpPr>
          <p:cNvPr id="22" name="Text 20"/>
          <p:cNvSpPr/>
          <p:nvPr/>
        </p:nvSpPr>
        <p:spPr>
          <a:xfrm>
            <a:off x="1371600" y="4178808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DAX Measures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22960" y="4846320"/>
            <a:ext cx="30175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Authored measures for totals, win/draw/loss rates, goal aggregates, and home/away splits.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343400" y="3977640"/>
            <a:ext cx="3566160" cy="2148840"/>
          </a:xfrm>
          <a:prstGeom prst="roundRect">
            <a:avLst>
              <a:gd name="adj" fmla="val 4255"/>
            </a:avLst>
          </a:prstGeom>
          <a:solidFill>
            <a:srgbClr val="0F2242"/>
          </a:solidFill>
          <a:ln w="12700">
            <a:solidFill>
              <a:srgbClr val="1E3A6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26280" y="4160520"/>
            <a:ext cx="548640" cy="548640"/>
          </a:xfrm>
          <a:prstGeom prst="ellipse">
            <a:avLst/>
          </a:prstGeom>
          <a:solidFill>
            <a:srgbClr val="13294F"/>
          </a:solidFill>
          <a:ln w="19050">
            <a:solidFill>
              <a:srgbClr val="D4AF3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26280" y="4160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60" dirty="0"/>
          </a:p>
        </p:txBody>
      </p:sp>
      <p:sp>
        <p:nvSpPr>
          <p:cNvPr id="27" name="Text 25"/>
          <p:cNvSpPr/>
          <p:nvPr/>
        </p:nvSpPr>
        <p:spPr>
          <a:xfrm>
            <a:off x="5166360" y="4178808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Design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617720" y="4846320"/>
            <a:ext cx="30175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5 report pages in Power BI with slicers, KPI cards, maps, and trend visuals.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138160" y="3977640"/>
            <a:ext cx="3566160" cy="2148840"/>
          </a:xfrm>
          <a:prstGeom prst="roundRect">
            <a:avLst>
              <a:gd name="adj" fmla="val 4255"/>
            </a:avLst>
          </a:prstGeom>
          <a:solidFill>
            <a:srgbClr val="13294F"/>
          </a:solidFill>
          <a:ln w="12700">
            <a:solidFill>
              <a:srgbClr val="1E3A6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321040" y="4160520"/>
            <a:ext cx="548640" cy="548640"/>
          </a:xfrm>
          <a:prstGeom prst="ellipse">
            <a:avLst/>
          </a:prstGeom>
          <a:solidFill>
            <a:srgbClr val="13294F"/>
          </a:solidFill>
          <a:ln w="19050">
            <a:solidFill>
              <a:srgbClr val="D4AF3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321040" y="4160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60" dirty="0"/>
          </a:p>
        </p:txBody>
      </p:sp>
      <p:sp>
        <p:nvSpPr>
          <p:cNvPr id="32" name="Text 30"/>
          <p:cNvSpPr/>
          <p:nvPr/>
        </p:nvSpPr>
        <p:spPr>
          <a:xfrm>
            <a:off x="8961120" y="4178808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Insight Generation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412480" y="4846320"/>
            <a:ext cx="30175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Interpreted visuals to surface patterns in host performance, venues, and tournament trends.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548640" y="61722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F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tools: Power BI Desktop  ·  Power Query  ·  DAX  ·  Data Modeling  ·  Statistical Aggregation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F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 1   |   FIFA WORLD CUP ANALYTICS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9354312" y="651052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·  METHODOLOGY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Architecture — 5 Report Pages</a:t>
            </a:r>
            <a:endParaRPr lang="en-US" sz="3000" dirty="0"/>
          </a:p>
        </p:txBody>
      </p:sp>
      <p:pic>
        <p:nvPicPr>
          <p:cNvPr id="4" name="Image 0" descr="/home/claude/crops/her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691640"/>
            <a:ext cx="2084832" cy="13716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691640"/>
            <a:ext cx="2084832" cy="1371600"/>
          </a:xfrm>
          <a:prstGeom prst="rect">
            <a:avLst/>
          </a:prstGeom>
          <a:ln w="12700">
            <a:solidFill>
              <a:srgbClr val="D4AF3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3136392"/>
            <a:ext cx="20848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48640" y="3447288"/>
            <a:ext cx="208483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Tournament identity, 2022 champion spotlight &amp; headline facts</a:t>
            </a:r>
            <a:endParaRPr lang="en-US" sz="950" dirty="0"/>
          </a:p>
        </p:txBody>
      </p:sp>
      <p:pic>
        <p:nvPicPr>
          <p:cNvPr id="8" name="Image 1" descr="/home/claude/crops/overview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798064" y="1691640"/>
            <a:ext cx="2084832" cy="137160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2798064" y="1691640"/>
            <a:ext cx="2084832" cy="1371600"/>
          </a:xfrm>
          <a:prstGeom prst="rect">
            <a:avLst/>
          </a:prstGeom>
          <a:ln w="12700">
            <a:solidFill>
              <a:srgbClr val="D4AF37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2798064" y="3136392"/>
            <a:ext cx="20848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2798064" y="3447288"/>
            <a:ext cx="208483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Tournament-wide KPIs and global match distribution map</a:t>
            </a:r>
            <a:endParaRPr lang="en-US" sz="950" dirty="0"/>
          </a:p>
        </p:txBody>
      </p:sp>
      <p:pic>
        <p:nvPicPr>
          <p:cNvPr id="12" name="Image 2" descr="/home/claude/crops/performance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047488" y="1691640"/>
            <a:ext cx="2084832" cy="137160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5047488" y="1691640"/>
            <a:ext cx="2084832" cy="1371600"/>
          </a:xfrm>
          <a:prstGeom prst="rect">
            <a:avLst/>
          </a:prstGeom>
          <a:ln w="12700">
            <a:solidFill>
              <a:srgbClr val="D4AF37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5047488" y="3136392"/>
            <a:ext cx="20848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Analysis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5047488" y="3447288"/>
            <a:ext cx="208483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Team-level wins / draws / losses and goal trends by tournament</a:t>
            </a:r>
            <a:endParaRPr lang="en-US" sz="950" dirty="0"/>
          </a:p>
        </p:txBody>
      </p:sp>
      <p:pic>
        <p:nvPicPr>
          <p:cNvPr id="16" name="Image 3" descr="/home/claude/crops/tournament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7296912" y="1691640"/>
            <a:ext cx="2084832" cy="137160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7296912" y="1691640"/>
            <a:ext cx="2084832" cy="1371600"/>
          </a:xfrm>
          <a:prstGeom prst="rect">
            <a:avLst/>
          </a:prstGeom>
          <a:ln w="12700">
            <a:solidFill>
              <a:srgbClr val="D4AF37"/>
            </a:solidFill>
            <a:prstDash val="solid"/>
          </a:ln>
        </p:spPr>
      </p:sp>
      <p:sp>
        <p:nvSpPr>
          <p:cNvPr id="18" name="Text 12"/>
          <p:cNvSpPr/>
          <p:nvPr/>
        </p:nvSpPr>
        <p:spPr>
          <a:xfrm>
            <a:off x="7296912" y="3136392"/>
            <a:ext cx="20848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Tournament Analysis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7296912" y="3447288"/>
            <a:ext cx="208483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 &amp; matches by edition, and distribution across match stages</a:t>
            </a:r>
            <a:endParaRPr lang="en-US" sz="950" dirty="0"/>
          </a:p>
        </p:txBody>
      </p:sp>
      <p:pic>
        <p:nvPicPr>
          <p:cNvPr id="20" name="Image 4" descr="/home/claude/crops/geo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9546336" y="1691640"/>
            <a:ext cx="2084832" cy="1371600"/>
          </a:xfrm>
          <a:prstGeom prst="rect">
            <a:avLst/>
          </a:prstGeom>
        </p:spPr>
      </p:pic>
      <p:sp>
        <p:nvSpPr>
          <p:cNvPr id="21" name="Shape 14"/>
          <p:cNvSpPr/>
          <p:nvPr/>
        </p:nvSpPr>
        <p:spPr>
          <a:xfrm>
            <a:off x="9546336" y="1691640"/>
            <a:ext cx="2084832" cy="1371600"/>
          </a:xfrm>
          <a:prstGeom prst="rect">
            <a:avLst/>
          </a:prstGeom>
          <a:ln w="12700">
            <a:solidFill>
              <a:srgbClr val="D4AF37"/>
            </a:solidFill>
            <a:prstDash val="solid"/>
          </a:ln>
        </p:spPr>
      </p:sp>
      <p:sp>
        <p:nvSpPr>
          <p:cNvPr id="22" name="Text 15"/>
          <p:cNvSpPr/>
          <p:nvPr/>
        </p:nvSpPr>
        <p:spPr>
          <a:xfrm>
            <a:off x="9546336" y="3136392"/>
            <a:ext cx="20848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Analysis</a:t>
            </a:r>
            <a:endParaRPr lang="en-US" sz="1200" dirty="0"/>
          </a:p>
        </p:txBody>
      </p:sp>
      <p:sp>
        <p:nvSpPr>
          <p:cNvPr id="23" name="Text 16"/>
          <p:cNvSpPr/>
          <p:nvPr/>
        </p:nvSpPr>
        <p:spPr>
          <a:xfrm>
            <a:off x="9546336" y="3447288"/>
            <a:ext cx="208483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Venue, city and host-country breakdown with an interactive map</a:t>
            </a:r>
            <a:endParaRPr lang="en-US" sz="950" dirty="0"/>
          </a:p>
        </p:txBody>
      </p:sp>
      <p:sp>
        <p:nvSpPr>
          <p:cNvPr id="24" name="Text 17"/>
          <p:cNvSpPr/>
          <p:nvPr/>
        </p:nvSpPr>
        <p:spPr>
          <a:xfrm>
            <a:off x="548640" y="598932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i="1" dirty="0">
                <a:solidFill>
                  <a:srgbClr val="8F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page shares consistent slicers (Team, Tournament, Match Type) so the audience can drill from a global view into any single edition, team, or venue.</a:t>
            </a:r>
            <a:endParaRPr lang="en-US" sz="1250" dirty="0"/>
          </a:p>
        </p:txBody>
      </p:sp>
      <p:sp>
        <p:nvSpPr>
          <p:cNvPr id="25" name="Text 18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F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 1   |   FIFA WORLD CUP ANALYTICS</a:t>
            </a:r>
            <a:endParaRPr lang="en-US" sz="900" dirty="0"/>
          </a:p>
        </p:txBody>
      </p:sp>
      <p:sp>
        <p:nvSpPr>
          <p:cNvPr id="26" name="Text 19"/>
          <p:cNvSpPr/>
          <p:nvPr/>
        </p:nvSpPr>
        <p:spPr>
          <a:xfrm>
            <a:off x="9354312" y="651052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·  DASHBOARD DESIGN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 01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Venue &amp; Geographic Footprint</a:t>
            </a:r>
            <a:endParaRPr lang="en-US" sz="3000" dirty="0"/>
          </a:p>
        </p:txBody>
      </p:sp>
      <p:pic>
        <p:nvPicPr>
          <p:cNvPr id="4" name="Image 0" descr="/home/claude/crops/ge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0" y="1600200"/>
            <a:ext cx="5669280" cy="3153327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989320" y="1600200"/>
            <a:ext cx="5669280" cy="3153327"/>
          </a:xfrm>
          <a:prstGeom prst="rect">
            <a:avLst/>
          </a:prstGeom>
          <a:ln w="19050">
            <a:solidFill>
              <a:srgbClr val="2FD3C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1645920"/>
            <a:ext cx="5212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964 matches </a:t>
            </a:r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been played across </a:t>
            </a:r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193 venues in 165 cities</a:t>
            </a:r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spanning </a:t>
            </a:r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host countries</a:t>
            </a:r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since 1930.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48640" y="2788920"/>
            <a:ext cx="521208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700"/>
              </a:lnSpc>
              <a:spcAft>
                <a:spcPts val="1400"/>
              </a:spcAft>
              <a:buSzPct val="100000"/>
              <a:buChar char="▸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Host-country stadiums carry a disproportionate share of fixtures — e.g. Argentina's Estadio José Amalfitani and Estadio Monumental alone account for 22 of Argentina's hosted matches.</a:t>
            </a:r>
            <a:endParaRPr lang="en-US" sz="1300" dirty="0"/>
          </a:p>
          <a:p>
            <a:pPr marL="342900" indent="-342900">
              <a:lnSpc>
                <a:spcPts val="1700"/>
              </a:lnSpc>
              <a:spcAft>
                <a:spcPts val="1400"/>
              </a:spcAft>
              <a:buSzPct val="100000"/>
              <a:buChar char="▸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density clusters around a small set of marquee stadiums per edition, concentrating home-crowd advantage in a handful of venues rather than spreading it evenly.</a:t>
            </a:r>
            <a:endParaRPr lang="en-US" sz="1300" dirty="0"/>
          </a:p>
          <a:p>
            <a:pPr marL="342900" indent="-342900">
              <a:lnSpc>
                <a:spcPts val="1700"/>
              </a:lnSpc>
              <a:spcAft>
                <a:spcPts val="1400"/>
              </a:spcAft>
              <a:buSzPct val="100000"/>
              <a:buChar char="▸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venue map highlights how host selection has expanded World Cup geography over time — from a single South American host in 1930 to Qatar's compact multi-city format in 2022.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F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 1   |   FIFA WORLD CUP ANALYTICS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9354312" y="651052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·  GEOGRAPHIC INSIGHT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 02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Tournament Growth &amp; Match Stage Distribution</a:t>
            </a:r>
            <a:endParaRPr lang="en-US" sz="3000" dirty="0"/>
          </a:p>
        </p:txBody>
      </p:sp>
      <p:pic>
        <p:nvPicPr>
          <p:cNvPr id="4" name="Image 0" descr="/home/claude/crops/tournam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4937760" cy="4283029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600200"/>
            <a:ext cx="4937760" cy="4283029"/>
          </a:xfrm>
          <a:prstGeom prst="rect">
            <a:avLst/>
          </a:prstGeom>
          <a:ln w="19050">
            <a:solidFill>
              <a:srgbClr val="D4AF3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806440" y="1645920"/>
            <a:ext cx="5852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964 total matches, 650 (67%) were Group Stage fixtures — the format's expansion has steadily increased both goal volume and total matches per edition.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806440" y="2788920"/>
            <a:ext cx="58521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700"/>
              </a:lnSpc>
              <a:spcAft>
                <a:spcPts val="1400"/>
              </a:spcAft>
              <a:buSzPct val="100000"/>
              <a:buChar char="▸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“Matches and Goals” trend line shows a clear long-run rise from the 1930s through 2022, driven by the field growing from 13 teams to 32.</a:t>
            </a:r>
            <a:endParaRPr lang="en-US" sz="1300" dirty="0"/>
          </a:p>
          <a:p>
            <a:pPr marL="342900" indent="-342900">
              <a:lnSpc>
                <a:spcPts val="1700"/>
              </a:lnSpc>
              <a:spcAft>
                <a:spcPts val="1400"/>
              </a:spcAft>
              <a:buSzPct val="100000"/>
              <a:buChar char="▸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Knockout stages (Round of 16, Quarter-Finals, Semi-Finals, Final) make up a small but high-stakes fraction of total fixtures — only 14 Finals across 22 editions.</a:t>
            </a:r>
            <a:endParaRPr lang="en-US" sz="1300" dirty="0"/>
          </a:p>
          <a:p>
            <a:pPr marL="342900" indent="-342900">
              <a:lnSpc>
                <a:spcPts val="1700"/>
              </a:lnSpc>
              <a:spcAft>
                <a:spcPts val="1400"/>
              </a:spcAft>
              <a:buSzPct val="100000"/>
              <a:buChar char="▸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goals-by-tournament treemap reveals scoring intensity varies sharply by era, useful context when comparing host-nation results across different tactical periods.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F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 1   |   FIFA WORLD CUP ANALYTICS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9354312" y="651052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·  TOURNAMENT INSIGHT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 03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Performance &amp; the Home-Advantage Question</a:t>
            </a:r>
            <a:endParaRPr lang="en-US" sz="3000" dirty="0"/>
          </a:p>
        </p:txBody>
      </p:sp>
      <p:pic>
        <p:nvPicPr>
          <p:cNvPr id="4" name="Image 0" descr="/home/claude/crops/over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72200" y="1600200"/>
            <a:ext cx="5486400" cy="454146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172200" y="1600200"/>
            <a:ext cx="5486400" cy="4541466"/>
          </a:xfrm>
          <a:prstGeom prst="rect">
            <a:avLst/>
          </a:prstGeom>
          <a:ln w="19050">
            <a:solidFill>
              <a:srgbClr val="2FD3C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1645920"/>
            <a:ext cx="5394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Brazil </a:t>
            </a:r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</a:t>
            </a:r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Argentina </a:t>
            </a:r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the all-time board — 76 and 47 wins respectively — and both nations have also won World Cups on home or home-continent soil.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48640" y="2880360"/>
            <a:ext cx="53949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700"/>
              </a:lnSpc>
              <a:spcAft>
                <a:spcPts val="1400"/>
              </a:spcAft>
              <a:buSzPct val="100000"/>
              <a:buChar char="▸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editions, host nations have frequently outperformed their historical average — Uruguay (1930), Italy (1934), England (1966), Argentina (1978) and France (1998) all won as hosts.</a:t>
            </a:r>
            <a:endParaRPr lang="en-US" sz="1300" dirty="0"/>
          </a:p>
          <a:p>
            <a:pPr marL="342900" indent="-342900">
              <a:lnSpc>
                <a:spcPts val="1700"/>
              </a:lnSpc>
              <a:spcAft>
                <a:spcPts val="1400"/>
              </a:spcAft>
              <a:buSzPct val="100000"/>
              <a:buChar char="▸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home / away win split in the dashboard (748 vs. 748 fixtures) lets the report isolate host-nation matches for a focused comparison of win rate on home soil.</a:t>
            </a:r>
            <a:endParaRPr lang="en-US" sz="1300" dirty="0"/>
          </a:p>
          <a:p>
            <a:pPr marL="342900" indent="-342900">
              <a:lnSpc>
                <a:spcPts val="1700"/>
              </a:lnSpc>
              <a:spcAft>
                <a:spcPts val="1400"/>
              </a:spcAft>
              <a:buSzPct val="100000"/>
              <a:buChar char="▸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 Performance table (wins, draws, goals, matches per team) is the base layer for computing a host-advantage index in future iterations of this analysis.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F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 1   |   FIFA WORLD CUP ANALYTICS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9354312" y="651052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·  PERFORMANCE INSIGHT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&amp; Learnings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49240" cy="4480560"/>
          </a:xfrm>
          <a:prstGeom prst="roundRect">
            <a:avLst>
              <a:gd name="adj" fmla="val 2041"/>
            </a:avLst>
          </a:prstGeom>
          <a:solidFill>
            <a:srgbClr val="13294F"/>
          </a:solidFill>
          <a:ln w="12700">
            <a:solidFill>
              <a:srgbClr val="1E3A6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874520"/>
            <a:ext cx="4800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FACED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2240280"/>
            <a:ext cx="484632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700"/>
              </a:lnSpc>
              <a:spcAft>
                <a:spcPts val="1200"/>
              </a:spcAft>
              <a:buSzPct val="100000"/>
              <a:buChar char="▸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access to Excel — all cleaning had to be redesigned around Power Query inside Power BI.</a:t>
            </a:r>
            <a:endParaRPr lang="en-US" sz="1300" dirty="0"/>
          </a:p>
          <a:p>
            <a:pPr marL="342900" indent="-342900">
              <a:lnSpc>
                <a:spcPts val="1700"/>
              </a:lnSpc>
              <a:spcAft>
                <a:spcPts val="1200"/>
              </a:spcAft>
              <a:buSzPct val="100000"/>
              <a:buChar char="▸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country/city naming across editions (e.g. historical name changes) needed manual standardization.</a:t>
            </a:r>
            <a:endParaRPr lang="en-US" sz="1300" dirty="0"/>
          </a:p>
          <a:p>
            <a:pPr marL="342900" indent="-342900">
              <a:lnSpc>
                <a:spcPts val="1700"/>
              </a:lnSpc>
              <a:spcAft>
                <a:spcPts val="1200"/>
              </a:spcAft>
              <a:buSzPct val="100000"/>
              <a:buChar char="▸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Balancing a data-dense dashboard (5 pages, many KPIs) with a clean, uncluttered visual layout.</a:t>
            </a:r>
            <a:endParaRPr lang="en-US" sz="1300" dirty="0"/>
          </a:p>
          <a:p>
            <a:pPr marL="342900" indent="-342900">
              <a:lnSpc>
                <a:spcPts val="1700"/>
              </a:lnSpc>
              <a:spcAft>
                <a:spcPts val="1200"/>
              </a:spcAft>
              <a:buSzPct val="100000"/>
              <a:buChar char="▸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Ensuring slicers stayed cross-filtered correctly across all report pages.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172200" y="1645920"/>
            <a:ext cx="5486400" cy="4480560"/>
          </a:xfrm>
          <a:prstGeom prst="roundRect">
            <a:avLst>
              <a:gd name="adj" fmla="val 2041"/>
            </a:avLst>
          </a:prstGeom>
          <a:solidFill>
            <a:srgbClr val="0F2242"/>
          </a:solidFill>
          <a:ln w="12700">
            <a:solidFill>
              <a:srgbClr val="2FD3C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46520" y="187452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FD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LEARNINGS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46520" y="2240280"/>
            <a:ext cx="493776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700"/>
              </a:lnSpc>
              <a:spcAft>
                <a:spcPts val="1200"/>
              </a:spcAft>
              <a:buSzPct val="100000"/>
              <a:buChar char="▸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Query alone can fully replace Excel for structured cleaning and shaping of tabular sports data.</a:t>
            </a:r>
            <a:endParaRPr lang="en-US" sz="1300" dirty="0"/>
          </a:p>
          <a:p>
            <a:pPr marL="342900" indent="-342900">
              <a:lnSpc>
                <a:spcPts val="1700"/>
              </a:lnSpc>
              <a:spcAft>
                <a:spcPts val="1200"/>
              </a:spcAft>
              <a:buSzPct val="100000"/>
              <a:buChar char="▸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Well-designed DAX measures (wins, draws, losses, home/away splits) make cross-page slicing effortless.</a:t>
            </a:r>
            <a:endParaRPr lang="en-US" sz="1300" dirty="0"/>
          </a:p>
          <a:p>
            <a:pPr marL="342900" indent="-342900">
              <a:lnSpc>
                <a:spcPts val="1700"/>
              </a:lnSpc>
              <a:spcAft>
                <a:spcPts val="1200"/>
              </a:spcAft>
              <a:buSzPct val="100000"/>
              <a:buChar char="▸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visual hierarchy — KPI cards up top, detail visuals below — makes dense datasets easy to explore.</a:t>
            </a:r>
            <a:endParaRPr lang="en-US" sz="1300" dirty="0"/>
          </a:p>
          <a:p>
            <a:pPr marL="342900" indent="-342900">
              <a:lnSpc>
                <a:spcPts val="1700"/>
              </a:lnSpc>
              <a:spcAft>
                <a:spcPts val="1200"/>
              </a:spcAft>
              <a:buSzPct val="100000"/>
              <a:buChar char="▸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Framing an analytical question (home advantage) upfront kept every visual purposeful rather than decorative.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F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 1   |   FIFA WORLD CUP ANALYTICS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9354312" y="651052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·  REFLECTION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13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-2743200"/>
            <a:ext cx="6400800" cy="6400800"/>
          </a:xfrm>
          <a:prstGeom prst="ellipse">
            <a:avLst/>
          </a:prstGeom>
          <a:solidFill>
            <a:srgbClr val="0F224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0789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Future Scope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64592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dashboard successfully consolidates 90+ years of FIFA World Cup history into an interactive, drillable view — giving early evidence that host nations and their home continent tend to perform above their historical baseline, while opening a clear path for deeper statistical validation.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28346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3200400"/>
            <a:ext cx="108813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▸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a formal host-nation win-rate index and test it for statistical significance.</a:t>
            </a:r>
            <a:endParaRPr lang="en-US" sz="1350" dirty="0"/>
          </a:p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▸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performance by continent (not just country) to test the broader home-continent hypothesis.</a:t>
            </a:r>
            <a:endParaRPr lang="en-US" sz="1350" dirty="0"/>
          </a:p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▸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in squad-level and qualification data for deeper predictive analysis.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5120640"/>
            <a:ext cx="11064240" cy="0"/>
          </a:xfrm>
          <a:prstGeom prst="line">
            <a:avLst/>
          </a:prstGeom>
          <a:noFill/>
          <a:ln w="12700">
            <a:solidFill>
              <a:srgbClr val="1E3A6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53492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548640" y="5943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Bharadwaja  ·  Imarticus Learning, Gachibowli  ·  Capstone Project 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F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 1   |   FIFA WORLD CUP ANALYTICS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9354312" y="651052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·  CONCLUSION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2026-08-25T06:42:49Z</dcterms:created>
  <dcterms:modified xsi:type="dcterms:W3CDTF">2026-08-25T06:42:49Z</dcterms:modified>
</cp:coreProperties>
</file>